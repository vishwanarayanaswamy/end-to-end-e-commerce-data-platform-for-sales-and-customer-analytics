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0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utfit Bold"/>
      <p:regular r:id="rId17"/>
    </p:embeddedFont>
    <p:embeddedFont>
      <p:font typeface="Bitter"/>
      <p:regular r:id="rId18"/>
    </p:embeddedFont>
    <p:embeddedFont>
      <p:font typeface="Bitter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47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End-to-End E-Commerce Data Platform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334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Sales and Customer Analytics — A Data Engineering Capstone Project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874392"/>
            <a:ext cx="1681163" cy="266402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010174" y="2916882"/>
            <a:ext cx="196825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MASTER'S IN DATA SCIENCE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677123" y="2869629"/>
            <a:ext cx="177641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9FA5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766941" y="2916882"/>
            <a:ext cx="205397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ENGINEERING PROJECT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25119" y="33050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Vishwa Narayanaswamy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Sheerin Banu Shiek Mohamed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 ·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Koushik Raj Singh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55699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3870871" y="918865"/>
            <a:ext cx="483125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E-commerce platforms generate massive volumes of data daily — from purchases and searches to clicks and transactions. Managing this data manually is slow, error-prone, and unsustainable at scale.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70871" y="1618208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997077" y="174441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Collect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97077" y="200910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Ingest raw data from multiple e-commerce sources automatically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70871" y="2438698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97077" y="2564904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Clean &amp; Transform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997077" y="2829595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Preprocess and standardize data for consistent analysis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70871" y="3259187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997077" y="338539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Store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97077" y="3650084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Load processed data into a centralized data warehouse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70871" y="4079677"/>
            <a:ext cx="4831259" cy="708050"/>
          </a:xfrm>
          <a:prstGeom prst="roundRect">
            <a:avLst>
              <a:gd name="adj" fmla="val 2675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997077" y="420588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Analyze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997077" y="4470574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 real-time insights and interactive dashboards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3994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Aim &amp; Objectives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375568" y="1019473"/>
            <a:ext cx="4128939" cy="3719959"/>
          </a:xfrm>
          <a:prstGeom prst="roundRect">
            <a:avLst>
              <a:gd name="adj" fmla="val 545"/>
            </a:avLst>
          </a:prstGeom>
          <a:solidFill>
            <a:srgbClr val="4950B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10629" y="114820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Aim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0629" y="1488058"/>
            <a:ext cx="385881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To build a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scalable and automated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 e-commerce data platform that enables end-to-end sales and customer analytics — from raw data ingestion to actionable business intelligence.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1590" y="1148209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Objectives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2266" y="1510866"/>
            <a:ext cx="202629" cy="2026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80633" y="1504206"/>
            <a:ext cx="34952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 data collection and preprocessing pipelines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266" y="2180444"/>
            <a:ext cx="202629" cy="2026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0633" y="2173784"/>
            <a:ext cx="34952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Execute ETL operations efficiently and reliably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266" y="2850021"/>
            <a:ext cx="202629" cy="2026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80633" y="2843361"/>
            <a:ext cx="34952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transformed data in a centralized warehouse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2266" y="3519599"/>
            <a:ext cx="202629" cy="2026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80633" y="3512939"/>
            <a:ext cx="34952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 customer behavior and sales patterns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2266" y="4189177"/>
            <a:ext cx="202629" cy="202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80633" y="4182517"/>
            <a:ext cx="34952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interactive dashboards for business stakeholders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94903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2093416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Challenge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209452" y="2312640"/>
            <a:ext cx="324363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E-commerce businesses generate data across orders, customers, products, and transactions — but this data is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fragmented across siloed systems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making unified analysis nearly impossible.</a:t>
            </a:r>
            <a:endParaRPr lang="en-US" sz="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5527" y="775246"/>
            <a:ext cx="3243635" cy="324363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27" y="775246"/>
            <a:ext cx="3243635" cy="32436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09452" y="4169643"/>
            <a:ext cx="2197001" cy="678954"/>
          </a:xfrm>
          <a:prstGeom prst="roundRect">
            <a:avLst>
              <a:gd name="adj" fmla="val 10101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95164" y="4169643"/>
            <a:ext cx="57150" cy="678954"/>
          </a:xfrm>
          <a:prstGeom prst="roundRect">
            <a:avLst>
              <a:gd name="adj" fmla="val 25581"/>
            </a:avLst>
          </a:prstGeom>
          <a:solidFill>
            <a:srgbClr val="9FA582"/>
          </a:solidFill>
          <a:ln/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364010" y="428133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Scattered Data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364010" y="4473773"/>
            <a:ext cx="193074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Multiple disconnected sources with no unified schema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473425" y="4169643"/>
            <a:ext cx="2197001" cy="678954"/>
          </a:xfrm>
          <a:prstGeom prst="roundRect">
            <a:avLst>
              <a:gd name="adj" fmla="val 10101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459138" y="4169643"/>
            <a:ext cx="57150" cy="678954"/>
          </a:xfrm>
          <a:prstGeom prst="roundRect">
            <a:avLst>
              <a:gd name="adj" fmla="val 25581"/>
            </a:avLst>
          </a:prstGeom>
          <a:solidFill>
            <a:srgbClr val="9FA582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627983" y="428133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Manual Reporting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27983" y="4473773"/>
            <a:ext cx="1930747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Slow, error-prone processes that delay decisions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737399" y="4169643"/>
            <a:ext cx="2197001" cy="678954"/>
          </a:xfrm>
          <a:prstGeom prst="roundRect">
            <a:avLst>
              <a:gd name="adj" fmla="val 10101"/>
            </a:avLst>
          </a:prstGeom>
          <a:solidFill>
            <a:srgbClr val="1C1D1F"/>
          </a:solidFill>
          <a:ln w="14288">
            <a:solidFill>
              <a:srgbClr val="545557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723111" y="4169643"/>
            <a:ext cx="57150" cy="678954"/>
          </a:xfrm>
          <a:prstGeom prst="roundRect">
            <a:avLst>
              <a:gd name="adj" fmla="val 25581"/>
            </a:avLst>
          </a:prstGeom>
          <a:solidFill>
            <a:srgbClr val="9FA582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891957" y="4281339"/>
            <a:ext cx="1304925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 Real-Time Analytics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91957" y="4473773"/>
            <a:ext cx="1930747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Businesses react to trends too late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8131"/>
            <a:ext cx="3050530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End-to-End Workflow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752921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platform follows a structured eight-stage pipeline — from raw data ingestion through to monitored, production-ready analytics.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605" y="975345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05" y="975345"/>
            <a:ext cx="6553200" cy="3657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6605" y="4715321"/>
            <a:ext cx="748791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stage is automated and containerized, ensuring reproducibility, scalability, and minimal manual intervention throughout the data lifecycle.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1177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Tools &amp; Technologies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49" y="1020514"/>
            <a:ext cx="261342" cy="2613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349" y="1432396"/>
            <a:ext cx="188074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Python, Pandas &amp; NumPy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7349" y="1708770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cleaning, transformation, and statistical analysis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0629" y="1020514"/>
            <a:ext cx="261342" cy="2613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50629" y="1432396"/>
            <a:ext cx="164551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Apache NiFi &amp; Airflow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250629" y="1708770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data ingestion and workflow orchestration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3910" y="1020514"/>
            <a:ext cx="261342" cy="2613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3910" y="143239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Apache Spark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043910" y="1708770"/>
            <a:ext cx="26427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Distributed, large-scale data processing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349" y="2351410"/>
            <a:ext cx="261342" cy="2613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349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PostgreSQL &amp; SQL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57349" y="3039666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Relational data warehouse and query analytics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50629" y="2351410"/>
            <a:ext cx="261342" cy="2613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50629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Docker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3250629" y="3039666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Containerization for consistent deployment environments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43910" y="2351410"/>
            <a:ext cx="261342" cy="2613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043910" y="27632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Power BI / Tableau</a:t>
            </a:r>
            <a:endParaRPr lang="en-US" sz="1250" dirty="0"/>
          </a:p>
        </p:txBody>
      </p:sp>
      <p:sp>
        <p:nvSpPr>
          <p:cNvPr id="20" name="Text 12"/>
          <p:cNvSpPr/>
          <p:nvPr/>
        </p:nvSpPr>
        <p:spPr>
          <a:xfrm>
            <a:off x="6043910" y="3039666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Interactive visualization and business intelligence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7349" y="3682305"/>
            <a:ext cx="261342" cy="26134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349" y="409418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457349" y="4370561"/>
            <a:ext cx="2642741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Version control and collaborative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20353"/>
            <a:ext cx="3281437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864221"/>
            <a:ext cx="1869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We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2130698"/>
            <a:ext cx="254905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platform integrates structured and semi-structured data from six core e-commerce domains, representing high-volume, multi-source business records.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3935" y="909489"/>
            <a:ext cx="4970190" cy="28164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4489" y="3928318"/>
            <a:ext cx="1881262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87450" y="40412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Customer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45718" y="3928318"/>
            <a:ext cx="1881262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758678" y="40412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Product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6946" y="3928318"/>
            <a:ext cx="1881262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729907" y="40412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Sales Transactions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8175" y="3928318"/>
            <a:ext cx="1881262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701135" y="40412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Order Details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4489" y="4420716"/>
            <a:ext cx="3852490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7450" y="453367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💵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Payment Info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6946" y="4420716"/>
            <a:ext cx="3852490" cy="402431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729907" y="453367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🚚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 xml:space="preserve"> Shipping Data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19311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Preparation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11039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Raw e-commerce data is inherently noisy. A rigorous preparation layer ensures only high-quality, consistent records enter the warehouse.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860" y="1049536"/>
            <a:ext cx="6676132" cy="35360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75215" y="3576765"/>
            <a:ext cx="1676451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Handle Missing Values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040826" y="3841788"/>
            <a:ext cx="1768040" cy="28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Impute or remove incomplete records.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55415" y="1504270"/>
            <a:ext cx="1650660" cy="20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Remove Duplicates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95235" y="1769293"/>
            <a:ext cx="1768040" cy="28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Deduplicate and validate unique entries.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56818" y="1297937"/>
            <a:ext cx="1768040" cy="412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Transform &amp; Standardize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56818" y="1769293"/>
            <a:ext cx="1768040" cy="28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Format fields and normalize values.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0401" y="3576880"/>
            <a:ext cx="2107860" cy="206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80401" y="3841902"/>
            <a:ext cx="1768040" cy="288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 derived metrics and aggregates.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03759" y="4675287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Python, Pandas, and NumPy power every preparation step — improving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accuracy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,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consistency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, and downstream </a:t>
            </a:r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analytics performance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628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Team Contributions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2784"/>
            <a:ext cx="1507480" cy="150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07444"/>
            <a:ext cx="20222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Vishwa Narayanaswamy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13956"/>
            <a:ext cx="2599134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Raw data collection and ingestion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cleaning and preprocessing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quality management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322784"/>
            <a:ext cx="1507480" cy="1507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007444"/>
            <a:ext cx="2400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Sheerin Banu Shiek Mohamed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13956"/>
            <a:ext cx="2599134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ETL workflow development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Apache Airflow pipeline orchestration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Docker setup and deployment monitoring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322784"/>
            <a:ext cx="1507480" cy="1507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0074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Koushik Raj Singh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13956"/>
            <a:ext cx="2599134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warehouse design and SQL analytics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Power BI dashboard creation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Documentation and testing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9840" y="344463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39840" y="857101"/>
            <a:ext cx="489332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This project demonstrates how a well-architected data engineering platform transforms raw, fragmented e-commerce data into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actionable business intelligence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39840" y="1309762"/>
            <a:ext cx="4893320" cy="2592288"/>
          </a:xfrm>
          <a:prstGeom prst="roundRect">
            <a:avLst>
              <a:gd name="adj" fmla="val 679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3839840" y="1309762"/>
            <a:ext cx="4893320" cy="648072"/>
          </a:xfrm>
          <a:prstGeom prst="roundRect">
            <a:avLst>
              <a:gd name="adj" fmla="val 2717"/>
            </a:avLst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957191" y="142711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Automated ETL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57191" y="1668810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Reliable, scheduled pipelines with minimal manual effort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39840" y="1957834"/>
            <a:ext cx="4893320" cy="648072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839840" y="1957834"/>
            <a:ext cx="4893320" cy="14288"/>
          </a:xfrm>
          <a:prstGeom prst="roundRect">
            <a:avLst>
              <a:gd name="adj" fmla="val 123252"/>
            </a:avLst>
          </a:prstGeom>
          <a:solidFill>
            <a:srgbClr val="54555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957191" y="207518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Centralized Storage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957191" y="2316882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Single source of truth in PostgreSQL warehouse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39840" y="2605906"/>
            <a:ext cx="4893320" cy="648072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839840" y="2605906"/>
            <a:ext cx="4893320" cy="14288"/>
          </a:xfrm>
          <a:prstGeom prst="roundRect">
            <a:avLst>
              <a:gd name="adj" fmla="val 123252"/>
            </a:avLst>
          </a:prstGeom>
          <a:solidFill>
            <a:srgbClr val="5455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957191" y="272325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957191" y="2964954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Up-to-date insights for faster decision-making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39840" y="3253978"/>
            <a:ext cx="4893320" cy="648072"/>
          </a:xfrm>
          <a:prstGeom prst="rect">
            <a:avLst/>
          </a:prstGeom>
          <a:solidFill>
            <a:srgbClr val="3B3C3E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839840" y="3253978"/>
            <a:ext cx="4893320" cy="14288"/>
          </a:xfrm>
          <a:prstGeom prst="roundRect">
            <a:avLst>
              <a:gd name="adj" fmla="val 123252"/>
            </a:avLst>
          </a:prstGeom>
          <a:solidFill>
            <a:srgbClr val="545557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3957191" y="3371329"/>
            <a:ext cx="158769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Interactive Dashboards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957191" y="3613026"/>
            <a:ext cx="465861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Power BI visualizations accessible to stakeholders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839840" y="4011364"/>
            <a:ext cx="4893320" cy="787598"/>
          </a:xfrm>
          <a:prstGeom prst="roundRect">
            <a:avLst>
              <a:gd name="adj" fmla="val 2236"/>
            </a:avLst>
          </a:prstGeom>
          <a:solidFill>
            <a:srgbClr val="183A13"/>
          </a:solidFill>
          <a:ln/>
        </p:spPr>
        <p:txBody>
          <a:bodyPr/>
          <a:p/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91" y="4179168"/>
            <a:ext cx="146745" cy="11735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21287" y="4137868"/>
            <a:ext cx="4394522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This project underscores the critical role of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scalable data engineering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 xml:space="preserve"> in enabling modern e-commerce businesses to compete on insight, not just inventory.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2026-05-26T07:01:03Z</dcterms:created>
  <dcterms:modified xsi:type="dcterms:W3CDTF">2026-05-26T07:01:03Z</dcterms:modified>
</cp:coreProperties>
</file>